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502920"/>
            <a:ext cx="3566160" cy="557784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60120"/>
            <a:ext cx="283464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30CFDB"/>
                </a:solidFill>
                <a:latin typeface="Aptos"/>
              </a:rPr>
              <a:t>FUNDAMENTALS OF ARTIFICIAL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15400" y="1874519"/>
            <a:ext cx="1828800" cy="1508760"/>
          </a:xfrm>
          <a:prstGeom prst="roundRect">
            <a:avLst/>
          </a:prstGeom>
          <a:solidFill>
            <a:srgbClr val="0D1930"/>
          </a:solidFill>
          <a:ln w="25400"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79992" y="2176272"/>
            <a:ext cx="1508760" cy="6858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RULE\nENGINE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68512" y="2011680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98480" y="2011680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68512" y="2267712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698480" y="2267712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68512" y="2523744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98480" y="2523744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68512" y="2779776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698480" y="2779776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68512" y="3035808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698480" y="3035808"/>
            <a:ext cx="2286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30768" y="3977639"/>
            <a:ext cx="288036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RTL  →  VCD  → 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526280"/>
            <a:ext cx="2880360" cy="7315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B5C5D9"/>
                </a:solidFill>
                <a:latin typeface="Aptos"/>
              </a:rPr>
              <a:t>Evidence-led diagnosis\nwith explainable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777240"/>
            <a:ext cx="68580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30CFDB"/>
                </a:solidFill>
                <a:latin typeface="Aptos"/>
              </a:rPr>
              <a:t>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694944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Knowledge-Based Expert\nSystem for Digital Hardware\nDesign 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337560"/>
            <a:ext cx="672084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0">
                <a:solidFill>
                  <a:srgbClr val="B5C5D9"/>
                </a:solidFill>
                <a:latin typeface="Aptos"/>
              </a:rPr>
              <a:t>Deterministic RTL and waveform-based debugging assistant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160520"/>
            <a:ext cx="6720840" cy="36576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672084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CHENTHAN AMUTHAN D  •  2116240701090\nAMAR GANESH S  •  2116240701035\nARSHAD AA  •  2116240701050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B5C5D9"/>
                </a:solidFill>
                <a:latin typeface="Apto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A rule-driven assistant that connects design structure with observed signal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6720840" cy="425196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6172200" cy="3703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Digital hardware debugging requires engineers to inspect RTL, testbench stimulus, simulation logs and waveforms together. This project combines these sources into one explainable workflow.\n\nPyVerilog extracts RTL facts; Icarus Verilog runs the simulation and creates a VCD; vcdvcd converts the VCD into machine-readable facts; and GTKWave displays the actual waveform. A Python inference engine applies explicit debugging rules and produces diagnoses with evidence and recommended fixes.\n\nIn the 4-bit counter case study, the system identified an enable signal held at 0 and a count register beginning at 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3886200" cy="11430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54112" y="1938528"/>
            <a:ext cx="64008" cy="740664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892807"/>
            <a:ext cx="335584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304288"/>
            <a:ext cx="335584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Verilog RTL + testbench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063240"/>
            <a:ext cx="3886200" cy="11430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54112" y="3264408"/>
            <a:ext cx="64008" cy="740664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3218688"/>
            <a:ext cx="335584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630168"/>
            <a:ext cx="335584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Deterministic if–then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389120"/>
            <a:ext cx="3886200" cy="11430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54112" y="4590288"/>
            <a:ext cx="64008" cy="740664"/>
          </a:xfrm>
          <a:prstGeom prst="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4544568"/>
            <a:ext cx="335584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4956048"/>
            <a:ext cx="3355848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Diagnosis + evidence +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02 /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Debugging evidence is distributed, while interpretation is largely manual.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1874519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1" y="1938528"/>
            <a:ext cx="64008" cy="1472184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92807"/>
            <a:ext cx="299008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Distributed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04288"/>
            <a:ext cx="2990088" cy="11887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RTL, testbench stimulus, simulation output and waveforms must be inspected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1874519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938528"/>
            <a:ext cx="64008" cy="1472184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892807"/>
            <a:ext cx="299008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Manual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04288"/>
            <a:ext cx="2990088" cy="11887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Cross-referencing signal behaviour by hand is time-consuming and can be error-prone.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20440" cy="1874519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1938528"/>
            <a:ext cx="64008" cy="1472184"/>
          </a:xfrm>
          <a:prstGeom prst="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92807"/>
            <a:ext cx="299008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Skill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04288"/>
            <a:ext cx="2990088" cy="11887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Beginners may struggle with waveforms; experienced engineers repeat familiar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10927080" cy="132588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87952"/>
            <a:ext cx="10332720" cy="8686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900" b="1">
                <a:solidFill>
                  <a:srgbClr val="F5F8FC"/>
                </a:solidFill>
                <a:latin typeface="Aptos"/>
              </a:rPr>
              <a:t>Core problem: existing tools show what happened, but do not automatically correlate RTL structure and waveform behaviour to explain why.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30CFDB"/>
                </a:solidFill>
                <a:latin typeface="Aptos"/>
              </a:rPr>
              <a:t>Need: a structured, deterministic and explainable debugging assistant.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03 /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The project builds on expert-system reasoning and established Verilog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141732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1" y="1892808"/>
            <a:ext cx="64008" cy="1014984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47088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Rule-based expert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58568"/>
            <a:ext cx="481888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MYCIN demonstrated expert knowledge encoded as if–then rules with explanations. Standard systems combine a knowledge base, facts and an inference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141732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1892808"/>
            <a:ext cx="64008" cy="1014984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847088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RTL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58568"/>
            <a:ext cx="481888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PyVerilog provides a parser and exposes Verilog designs as an abstract syntax tree, enabling structural fact extraction.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5349240" cy="141732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" y="3630168"/>
            <a:ext cx="64008" cy="1014984"/>
          </a:xfrm>
          <a:prstGeom prst="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Simulation and waveforms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995928"/>
            <a:ext cx="481888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Icarus Verilog simulates designs and can produce VCD files; GTKWave visualizes signal transitions over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349240" cy="141732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2512" y="3630168"/>
            <a:ext cx="64008" cy="1014984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584448"/>
            <a:ext cx="481888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Programmatic VCD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995928"/>
            <a:ext cx="4818888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vcdvcd reads signal names, transition times and values, making waveform behaviour available to software.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6984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Key takeaway: these tools provide the building blocks; the project connects them with rule-based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04 /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The gap identified in the project report is the missing link between evidence and explanation.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029200" cy="324612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4805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30CFDB"/>
                </a:solidFill>
                <a:latin typeface="Aptos"/>
              </a:rPr>
              <a:t>EXISTING TOOL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4434840" cy="566928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42616"/>
            <a:ext cx="201168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RTL 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642616"/>
            <a:ext cx="205740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B5C5D9"/>
                </a:solidFill>
                <a:latin typeface="Aptos"/>
              </a:rPr>
              <a:t>Shows design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355848"/>
            <a:ext cx="4434840" cy="566928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392424"/>
            <a:ext cx="201168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Simulator / waveform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392424"/>
            <a:ext cx="205740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B5C5D9"/>
                </a:solidFill>
                <a:latin typeface="Aptos"/>
              </a:rPr>
              <a:t>Shows signal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105656"/>
            <a:ext cx="4434840" cy="566928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42232"/>
            <a:ext cx="201168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142232"/>
            <a:ext cx="205740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B5C5D9"/>
                </a:solidFill>
                <a:latin typeface="Aptos"/>
              </a:rPr>
              <a:t>Manually correlates both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3035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FBE5C"/>
                </a:solidFill>
                <a:latin typeface="Aptos"/>
              </a:rPr>
              <a:t>IDENTIFIED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606040"/>
            <a:ext cx="5303520" cy="242316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880360"/>
            <a:ext cx="4663440" cy="1783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No integrated, rule-driven pipeline automatically joins RTL facts with waveform facts and presents a traceable diagnosis with supporting evidence and a recommended fix.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486400"/>
            <a:ext cx="102412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30CFDB"/>
                </a:solidFill>
                <a:latin typeface="Aptos"/>
              </a:rPr>
              <a:t>Project response: combine parsing, simulation, waveform analysis and inference in one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05 /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Six connected objectives guide the proposed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429000" cy="16002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594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30CFD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938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Parse RTL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2971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Extract structural and behavioural facts from Verilog.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83080"/>
            <a:ext cx="3429000" cy="16002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38528"/>
            <a:ext cx="594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30CFD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92938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Automate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441448"/>
            <a:ext cx="2971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Compile RTL + testbench and capture VCD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83080"/>
            <a:ext cx="3429000" cy="16002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38528"/>
            <a:ext cx="594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30CFD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3" y="192938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Analyze waveforms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441448"/>
            <a:ext cx="2971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Convert VCD transitions into machine-readable facts.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39"/>
            <a:ext cx="3429000" cy="16002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904487"/>
            <a:ext cx="594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30CFDB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9534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Apply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07407"/>
            <a:ext cx="2971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Fire explicit debugging rules against extracted facts.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749039"/>
            <a:ext cx="3429000" cy="16002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904487"/>
            <a:ext cx="594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30CFDB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89534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Correlate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407407"/>
            <a:ext cx="2971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Join RTL structure with waveform behaviour.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749039"/>
            <a:ext cx="3429000" cy="16002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904487"/>
            <a:ext cx="5943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30CFDB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0263" y="3895344"/>
            <a:ext cx="233172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Generate diagnoses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4407407"/>
            <a:ext cx="2971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Produce reports with evidence chains and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06 / PROPOSED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Six-stage pipeline: from source files to an explainable debugging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246120" cy="9601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30CFDB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RTL + testbench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46120" cy="9601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38528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BE5C"/>
                </a:solidFill>
                <a:latin typeface="Aptos"/>
              </a:rPr>
              <a:t>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67712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Icarus Verilog → VCD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3246120" cy="9601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38528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66DCA4"/>
                </a:solidFill>
                <a:latin typeface="Aptos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67712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PyVerilog + vcdvcd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977639"/>
            <a:ext cx="3246120" cy="9601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087368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30CFDB"/>
                </a:solidFill>
                <a:latin typeface="Aptos"/>
              </a:rPr>
              <a:t>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416552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GTKWave waveform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977639"/>
            <a:ext cx="3246120" cy="9601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087368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BE5C"/>
                </a:solidFill>
                <a:latin typeface="Aptos"/>
              </a:rPr>
              <a:t>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416552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Knowledge base + inference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3246120" cy="9601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87368"/>
            <a:ext cx="29718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66DCA4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16552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Explainable report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2304288"/>
            <a:ext cx="50292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26679" y="2304288"/>
            <a:ext cx="502921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93808" y="2834640"/>
            <a:ext cx="0" cy="109728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772400" y="4462272"/>
            <a:ext cx="457200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977639" y="4462272"/>
            <a:ext cx="457201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B5C5D9"/>
                </a:solidFill>
                <a:latin typeface="Aptos"/>
              </a:rPr>
              <a:t>The same VCD is read by GTKWave for visual inspection and by vcdvcd for programmatic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07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Algorithm (Software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Deterministic processing sequence used to derive diagnoses.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27632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64792"/>
            <a:ext cx="438912" cy="438912"/>
          </a:xfrm>
          <a:prstGeom prst="round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37360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Load RTL and testbench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27632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764792"/>
            <a:ext cx="438912" cy="438912"/>
          </a:xfrm>
          <a:prstGeom prst="round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64792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737360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Parse RTL with PyVerilog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651760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2788920"/>
            <a:ext cx="438912" cy="438912"/>
          </a:xfrm>
          <a:prstGeom prst="round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788920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761488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Compile and simulate using iverilog + vvp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651760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788920"/>
            <a:ext cx="438912" cy="438912"/>
          </a:xfrm>
          <a:prstGeom prst="round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788920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761488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Generate vcdfile.vcd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675888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3813048"/>
            <a:ext cx="438912" cy="438912"/>
          </a:xfrm>
          <a:prstGeom prst="round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13048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785616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Read VCD with vcdvcd; extract signal facts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675888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3813048"/>
            <a:ext cx="438912" cy="438912"/>
          </a:xfrm>
          <a:prstGeom prst="round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813048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785616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Place RTL + waveform facts in working memory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700016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" y="4837176"/>
            <a:ext cx="438912" cy="438912"/>
          </a:xfrm>
          <a:prstGeom prst="round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8371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809744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Evaluate if–then rules and fire matching rules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700016"/>
            <a:ext cx="5074920" cy="713232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92240" y="4837176"/>
            <a:ext cx="438912" cy="438912"/>
          </a:xfrm>
          <a:prstGeom prst="round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837176"/>
            <a:ext cx="43891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D1930"/>
                </a:solidFill>
                <a:latin typeface="Aptos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809744"/>
            <a:ext cx="406908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Correlate evidence and generate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30CFDB"/>
                </a:solidFill>
                <a:latin typeface="Aptos"/>
              </a:rPr>
              <a:t>Same inputs → same rules → same diagnosis (no learned or statistical model).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08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Implementation (Software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The implementation separates evidence collection, reasoning and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606040" cy="25146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502920" cy="82296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RTL 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2402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PyVerilog AST traversal\nExtract module, ports, always block, reset and enable facts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9544" y="3200400"/>
            <a:ext cx="237744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02152" y="1965960"/>
            <a:ext cx="2606040" cy="25146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85032" y="2194560"/>
            <a:ext cx="502920" cy="82296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46888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063240"/>
            <a:ext cx="22402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Compile RTL + testbench\nRun simulator and generate VCD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17336" y="3200400"/>
            <a:ext cx="237744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9944" y="1965960"/>
            <a:ext cx="2606040" cy="25146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92824" y="2194560"/>
            <a:ext cx="502920" cy="82296"/>
          </a:xfrm>
          <a:prstGeom prst="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246888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Waveform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063240"/>
            <a:ext cx="22402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Read transitions, timestamps and values\nRecord initial value and constant signals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25128" y="3200400"/>
            <a:ext cx="237744" cy="0"/>
          </a:xfrm>
          <a:prstGeom prst="line">
            <a:avLst/>
          </a:prstGeom>
          <a:ln w="25400">
            <a:solidFill>
              <a:srgbClr val="30C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17736" y="1965960"/>
            <a:ext cx="2606040" cy="25146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0616" y="2194560"/>
            <a:ext cx="502920" cy="82296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246888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Inference +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3063240"/>
            <a:ext cx="22402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Match facts to named rules\nShow evidence chain and recommended fix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138928"/>
            <a:ext cx="100584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Frontend: displays GTKWave-rendered waveform beside inference results; “Open in GTKWave” enables native inspection.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09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Output and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Case study: 4-bit synchronous counter with clk, rst and en inputs.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057400" cy="5029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28216"/>
            <a:ext cx="1911095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30CFDB"/>
                </a:solidFill>
                <a:latin typeface="Aptos"/>
              </a:rPr>
              <a:t>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691640"/>
            <a:ext cx="1828800" cy="5029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728216"/>
            <a:ext cx="1682496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30CFDB"/>
                </a:solidFill>
                <a:latin typeface="Aptos"/>
              </a:rPr>
              <a:t>Transitions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691640"/>
            <a:ext cx="6812280" cy="502920"/>
          </a:xfrm>
          <a:prstGeom prst="roundRect">
            <a:avLst/>
          </a:prstGeom>
          <a:solidFill>
            <a:srgbClr val="1F3557"/>
          </a:solidFill>
          <a:ln>
            <a:solidFill>
              <a:srgbClr val="1F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1728216"/>
            <a:ext cx="6665976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30CFDB"/>
                </a:solidFill>
                <a:latin typeface="Aptos"/>
              </a:rPr>
              <a:t>Observed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295144"/>
            <a:ext cx="20574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322576"/>
            <a:ext cx="1911095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clk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295144"/>
            <a:ext cx="18288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4" y="2322576"/>
            <a:ext cx="168249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2295144"/>
            <a:ext cx="681228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1456" y="2322576"/>
            <a:ext cx="666597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Regular clock; expected behaviour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62072"/>
            <a:ext cx="20574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889504"/>
            <a:ext cx="1911095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16352" y="2862072"/>
            <a:ext cx="18288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9504" y="2889504"/>
            <a:ext cx="168249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4" y="2862072"/>
            <a:ext cx="681228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2889504"/>
            <a:ext cx="666597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Reset asserted and deasserted normally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29000"/>
            <a:ext cx="20574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456432"/>
            <a:ext cx="1911095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16352" y="3429000"/>
            <a:ext cx="18288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9504" y="3456432"/>
            <a:ext cx="168249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18304" y="3429000"/>
            <a:ext cx="681228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3456432"/>
            <a:ext cx="666597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FF7575"/>
                </a:solidFill>
                <a:latin typeface="Aptos"/>
              </a:rPr>
              <a:t>Constant 0; potential testbench stimulus 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995928"/>
            <a:ext cx="20574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023360"/>
            <a:ext cx="1911095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count[3:0]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16352" y="3995928"/>
            <a:ext cx="182880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9504" y="4023360"/>
            <a:ext cx="168249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18304" y="3995928"/>
            <a:ext cx="6812280" cy="475488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4023360"/>
            <a:ext cx="6665976" cy="40233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FF7575"/>
                </a:solidFill>
                <a:latin typeface="Aptos"/>
              </a:rPr>
              <a:t>Initial value = X; possible uninitialized register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983480"/>
            <a:ext cx="5166360" cy="9144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2" y="5184648"/>
            <a:ext cx="64008" cy="512064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5138928"/>
            <a:ext cx="463600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RULE 1 — ENABLE STUCK 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550408"/>
            <a:ext cx="463600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en = 0 throughout → counter increment blocked.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983480"/>
            <a:ext cx="5166360" cy="914400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82512" y="5184648"/>
            <a:ext cx="64008" cy="512064"/>
          </a:xfrm>
          <a:prstGeom prst="rect">
            <a:avLst/>
          </a:prstGeom>
          <a:solidFill>
            <a:srgbClr val="FF7575"/>
          </a:solidFill>
          <a:ln>
            <a:solidFill>
              <a:srgbClr val="FF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5138928"/>
            <a:ext cx="463600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RULE 2 — UNINITIALIZED REGISTER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5550408"/>
            <a:ext cx="463600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count begins at X → reset branch lacks a defined value.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080760"/>
            <a:ext cx="102412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66DCA4"/>
                </a:solidFill>
                <a:latin typeface="Aptos"/>
              </a:rPr>
              <a:t>Recommended fixes: assert en = 1 in the testbench; add count &lt;= 0 in the RTL reset branch.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C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30CFDB"/>
                </a:solidFill>
                <a:latin typeface="Aptos"/>
              </a:rPr>
              <a:t>10 /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Conclusion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The case study demonstrates evidence-based, explainable debugging.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5C5D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257800" cy="1874519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" y="1892808"/>
            <a:ext cx="64008" cy="1472184"/>
          </a:xfrm>
          <a:prstGeom prst="rect">
            <a:avLst/>
          </a:prstGeom>
          <a:solidFill>
            <a:srgbClr val="66DCA4"/>
          </a:solidFill>
          <a:ln>
            <a:solidFill>
              <a:srgbClr val="66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847088"/>
            <a:ext cx="472744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258568"/>
            <a:ext cx="4727448" cy="11887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The pipeline connected RTL parsing, simulation, VCD analysis and rule-based inference. It identified one stimulus-side issue and one RTL-side issue, with traceable evidence and fixes.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1874519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1892808"/>
            <a:ext cx="64008" cy="1472184"/>
          </a:xfrm>
          <a:prstGeom prst="rect">
            <a:avLst/>
          </a:prstGeom>
          <a:solidFill>
            <a:srgbClr val="30CFDB"/>
          </a:solidFill>
          <a:ln>
            <a:solidFill>
              <a:srgbClr val="30C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847088"/>
            <a:ext cx="4727448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Current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58568"/>
            <a:ext cx="4727448" cy="11887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5C5D9"/>
                </a:solidFill>
                <a:latin typeface="Aptos"/>
              </a:rPr>
              <a:t>Verilog designs simulatable with Icarus Verilog. The system is deterministic and supports engineer judgement rather than replacing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FFBE5C"/>
                </a:solidFill>
                <a:latin typeface="Aptos"/>
              </a:rPr>
              <a:t>FUTURE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34840"/>
            <a:ext cx="5074920" cy="420624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" y="4453127"/>
            <a:ext cx="4800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• Add rules for clock/reset faults and unknown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434840"/>
            <a:ext cx="5074920" cy="420624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53127"/>
            <a:ext cx="4800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• Support larger multi-module designs and hierarchical signals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001768"/>
            <a:ext cx="5074920" cy="420624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39" y="5020055"/>
            <a:ext cx="4800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• Extend source support to SystemVerilog and VHDL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5001768"/>
            <a:ext cx="5074920" cy="420624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020055"/>
            <a:ext cx="4800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• Generate suggested testbench patches and RTL fixes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68696"/>
            <a:ext cx="5074920" cy="420624"/>
          </a:xfrm>
          <a:prstGeom prst="roundRect">
            <a:avLst/>
          </a:prstGeom>
          <a:solidFill>
            <a:srgbClr val="182A48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39" y="5586983"/>
            <a:ext cx="4800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• Evaluate on more benchmark designs with known faults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09360"/>
            <a:ext cx="104241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30CFDB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